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Glenda Mendieta"/>
  <p:cmAuthor clrIdx="1" id="1" initials="" lastIdx="1" name="Amalia Día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31T10:43:44.376">
    <p:pos x="6000" y="0"/>
    <p:text>me encanta esta idea!</p:text>
  </p:cm>
  <p:cm authorId="0" idx="2" dt="2026-07-31T10:43:44.376">
    <p:pos x="6000" y="0"/>
    <p:text>para supplementary y/o lo que no se pueda mostrar con la de la siguiente slide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7-31T10:46:54.072">
    <p:pos x="148" y="2590"/>
    <p:text>tiene que haber alternativas con licencia:
https://sciencefigures.org/category/plant-science/
https://www.biorender.com/library
https://bioicons.com/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7-26T16:36:19.091">
    <p:pos x="96" y="737"/>
    <p:text>Definition of "GO" not available in acronym document. Where can we find out what it is?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ac29f5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ac29f5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ac29f5d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ac29f5d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a4623558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fa4623558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fa462355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fa462355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b870a21f41a5d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1b870a21f41a5d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6906fb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6906fb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fa462355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fa462355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fa462355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fa462355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fa462355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fa462355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fa4623558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fa4623558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fa4623558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fa4623558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fa4623558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fa4623558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fa46235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fa46235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6006dd8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6006dd8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6006dd8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56006dd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4dd2b28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4dd2b28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dd2b28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4dd2b28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b80217c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5b80217c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6006dd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56006dd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b80217c2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5b80217c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ac29f5d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6ac29f5d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2468c0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32468c0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9595130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9595130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4dd2b28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4dd2b28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2.xm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3.xml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EpIG-DB 2.0: results and analyses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Revised structure for the database manuscript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/>
              <a:t>Variables used in the revised analyses</a:t>
            </a:r>
            <a:endParaRPr sz="1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39645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Database identifiers and structure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PlotObservationID, PlotID, DATASET, Plot.Tree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Geographic coverage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Country, Longitude, Latitude, Altitude, ECO_NAME, BIOME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200"/>
              <a:t>Sampling metadata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" sz="1200"/>
              <a:t>Taxonomic.scope, Life.Form.scope, Sampling.method, Sampling.unit.strategy, Abundance.method</a:t>
            </a:r>
            <a:endParaRPr sz="1200"/>
          </a:p>
        </p:txBody>
      </p:sp>
      <p:sp>
        <p:nvSpPr>
          <p:cNvPr id="62" name="Google Shape;62;p14"/>
          <p:cNvSpPr txBox="1"/>
          <p:nvPr/>
        </p:nvSpPr>
        <p:spPr>
          <a:xfrm>
            <a:off x="4663275" y="1017725"/>
            <a:ext cx="3000000" cy="4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Host-tree information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Host.tree.name, Host.tree.DBH, Host_height..m.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Completeness fields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Empty.trees..y.n., Naturalness, Vegetation.type, Location.uncertainty..m.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Environmental predictors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Current climate, LGM climate, cloud forest, aridity and evapotranspiration variables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Validation checklist before final rendering</a:t>
            </a:r>
            <a:endParaRPr sz="25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Before final rendering: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Verify that the current header and species objects are final.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Review incomplete or invalid coordinates and report exclusions explicitly.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Derive biomes and ecoregions from the database rather than hard-coding values.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Validate extreme elevation, DBH and height values against the source datasets.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Verify taxon counts and sampling-code definitions against the data dictionary.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Correct period-separated sampling strategies before counting.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200"/>
              <a:t>Confirm that host-tree DBH is expressed in centimetres.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Results structure implemented in the updated QMD</a:t>
            </a:r>
            <a:endParaRPr sz="2520"/>
          </a:p>
        </p:txBody>
      </p:sp>
      <p:sp>
        <p:nvSpPr>
          <p:cNvPr id="74" name="Google Shape;74;p16"/>
          <p:cNvSpPr txBox="1"/>
          <p:nvPr/>
        </p:nvSpPr>
        <p:spPr>
          <a:xfrm>
            <a:off x="500000" y="1200000"/>
            <a:ext cx="78000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1  Database expansion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Overall growth and community-matrix coverage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2  Geographic coverage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Country expansion, sampling distribution and sampling intensity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3  Taxonomic and ecological coverage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Taxonomic scope, life forms and species representation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4  Sampling structure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Sampling units, abundance information, sampling methods and strategies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5  Data completeness</a:t>
            </a:r>
            <a:endParaRPr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626"/>
                </a:solidFill>
              </a:rPr>
              <a:t>Metadata completeness, numeric ranges and empty sampling units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decisions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Species representation</a:t>
            </a:r>
            <a:endParaRPr sz="2520"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2051" y="4340500"/>
            <a:ext cx="3000000" cy="281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525" y="1322525"/>
            <a:ext cx="7345172" cy="30179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7379100" y="146550"/>
            <a:ext cx="17649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Implemented as rank-frequency curves in the updated QMD. These can be replaced by individual-abundance Whittaker curves when a harmonized abundance field is available for both versions.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72" y="3166036"/>
            <a:ext cx="3211558" cy="17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6081375" y="-3150"/>
            <a:ext cx="3000000" cy="51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Decision: remove the gauge chart from the final QMD. Its denominator is not inherent to the database and a direct V1–V2 comparison communicates the result more clearly.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Gauge chart — removed from the final QMD</a:t>
            </a:r>
            <a:endParaRPr sz="252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73" y="920499"/>
            <a:ext cx="2910826" cy="178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3437625" y="1385199"/>
            <a:ext cx="2466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Status: superseded by the overall database-growth table and the geographic-expansion map.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051" y="4340500"/>
            <a:ext cx="3000000" cy="281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V1–V2 comparisons — dumbbell plots retained</a:t>
            </a:r>
            <a:endParaRPr sz="252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00" y="967113"/>
            <a:ext cx="4038900" cy="320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1020650" y="4119426"/>
            <a:ext cx="355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Retained for categorical V1–V2 comparisons because it shows exact direction and magnitude without the scale distortion of radar plots.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5113875" y="888500"/>
            <a:ext cx="3000000" cy="3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Typical packages: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ggalt</a:t>
            </a:r>
            <a:r>
              <a:rPr lang="en" sz="1100">
                <a:solidFill>
                  <a:schemeClr val="dk1"/>
                </a:solidFill>
              </a:rPr>
              <a:t> (classic dumbbell support)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 manual geom_point + geom_segment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Your use case: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species per country in V1 vs V2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Perfect fit.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Structure: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left point = V1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right point = V2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line connects them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Geographic expansion</a:t>
            </a:r>
            <a:endParaRPr sz="2520"/>
          </a:p>
        </p:txBody>
      </p:sp>
      <p:sp>
        <p:nvSpPr>
          <p:cNvPr id="111" name="Google Shape;111;p21"/>
          <p:cNvSpPr txBox="1"/>
          <p:nvPr/>
        </p:nvSpPr>
        <p:spPr>
          <a:xfrm>
            <a:off x="5824700" y="1524313"/>
            <a:ext cx="3218400" cy="30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“layered spatial weighting visualization”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You can encode: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V1 = grey base layer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V2 = green gradient intensity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additional variable = color saturation or alpha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 tools: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sf</a:t>
            </a:r>
            <a:r>
              <a:rPr lang="en" sz="1100">
                <a:solidFill>
                  <a:schemeClr val="dk1"/>
                </a:solidFill>
              </a:rPr>
              <a:t> (for spatial data)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viridis</a:t>
            </a:r>
            <a:r>
              <a:rPr lang="en" sz="1100">
                <a:solidFill>
                  <a:schemeClr val="dk1"/>
                </a:solidFill>
              </a:rPr>
              <a:t> or custom gradients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8121"/>
            <a:ext cx="336714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0359"/>
            <a:ext cx="3006000" cy="25298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3519550" y="1974475"/>
            <a:ext cx="1776900" cy="17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Implemented as two complementary results: geographic expansion identifies newly represented countries, and sampling intensity shows the number of sampling units per country.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Sampling intensity</a:t>
            </a:r>
            <a:endParaRPr sz="2520"/>
          </a:p>
        </p:txBody>
      </p:sp>
      <p:sp>
        <p:nvSpPr>
          <p:cNvPr id="120" name="Google Shape;120;p22"/>
          <p:cNvSpPr txBox="1"/>
          <p:nvPr/>
        </p:nvSpPr>
        <p:spPr>
          <a:xfrm>
            <a:off x="4501800" y="1994225"/>
            <a:ext cx="1856100" cy="2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Implemented as a country-level sampling-intensity map. Kernel-density maps are not used because they may imply continuous sampling effort between discrete localities.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6436775" y="1085950"/>
            <a:ext cx="2665500" cy="4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Option 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convert plots → points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overlay on ecoregion/country polygons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summarize per polygon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Option B: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treat ecoregions/countries as spatial polygons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compute density per region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 packages: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sf</a:t>
            </a:r>
            <a:r>
              <a:rPr lang="en" sz="1100">
                <a:solidFill>
                  <a:schemeClr val="dk1"/>
                </a:solidFill>
              </a:rPr>
              <a:t> (spatial geometry)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rnaturalearth</a:t>
            </a:r>
            <a:r>
              <a:rPr lang="en" sz="1100">
                <a:solidFill>
                  <a:schemeClr val="dk1"/>
                </a:solidFill>
              </a:rPr>
              <a:t> (base maps)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ggspatial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spatstat</a:t>
            </a:r>
            <a:r>
              <a:rPr lang="en" sz="1100">
                <a:solidFill>
                  <a:schemeClr val="dk1"/>
                </a:solidFill>
              </a:rPr>
              <a:t> (kernel density)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46219" cy="382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Sampling structure</a:t>
            </a:r>
            <a:endParaRPr sz="2520"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0" r="51169" t="0"/>
          <a:stretch/>
        </p:blipFill>
        <p:spPr>
          <a:xfrm>
            <a:off x="311700" y="1059675"/>
            <a:ext cx="2294600" cy="276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414500" y="3500350"/>
            <a:ext cx="2191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Implemented as separate comparisons of sampling-unit type, abundance information, field sampling method and sampling-unit strategy.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 rot="-5401412">
            <a:off x="-775109" y="2241548"/>
            <a:ext cx="2191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No. plots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5546" y="1824775"/>
            <a:ext cx="2640626" cy="200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/>
          <p:nvPr/>
        </p:nvSpPr>
        <p:spPr>
          <a:xfrm>
            <a:off x="5824700" y="2083075"/>
            <a:ext cx="1086000" cy="127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Dumbbell plots are used consistently; radial and fan charts are not retained.</a:t>
            </a:r>
            <a:endParaRPr sz="900"/>
          </a:p>
        </p:txBody>
      </p:sp>
      <p:pic>
        <p:nvPicPr>
          <p:cNvPr id="133" name="Google Shape;133;p23"/>
          <p:cNvPicPr preferRelativeResize="0"/>
          <p:nvPr/>
        </p:nvPicPr>
        <p:blipFill rotWithShape="1">
          <a:blip r:embed="rId5">
            <a:alphaModFix/>
          </a:blip>
          <a:srcRect b="0" l="12510" r="19463" t="0"/>
          <a:stretch/>
        </p:blipFill>
        <p:spPr>
          <a:xfrm>
            <a:off x="7019225" y="1110150"/>
            <a:ext cx="1717799" cy="170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 rotWithShape="1">
          <a:blip r:embed="rId6">
            <a:alphaModFix/>
          </a:blip>
          <a:srcRect b="0" l="56376" r="0" t="24156"/>
          <a:stretch/>
        </p:blipFill>
        <p:spPr>
          <a:xfrm>
            <a:off x="7196050" y="2989150"/>
            <a:ext cx="1364150" cy="13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Icon-based charts — not retained</a:t>
            </a:r>
            <a:endParaRPr sz="2520"/>
          </a:p>
        </p:txBody>
      </p:sp>
      <p:sp>
        <p:nvSpPr>
          <p:cNvPr id="140" name="Google Shape;140;p24"/>
          <p:cNvSpPr txBox="1"/>
          <p:nvPr/>
        </p:nvSpPr>
        <p:spPr>
          <a:xfrm>
            <a:off x="5883925" y="1470975"/>
            <a:ext cx="3000000" cy="27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Decision: not retained. Exact counts and percentage changes are presented in a table, avoiding decorative icons and licensing issues.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982800"/>
            <a:ext cx="1080250" cy="14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/>
        </p:nvSpPr>
        <p:spPr>
          <a:xfrm>
            <a:off x="236100" y="4111675"/>
            <a:ext cx="30000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Sample icons from Google. </a:t>
            </a:r>
            <a:r>
              <a:rPr lang="en" sz="1600">
                <a:solidFill>
                  <a:srgbClr val="FF0000"/>
                </a:solidFill>
              </a:rPr>
              <a:t>Not licensed!!</a:t>
            </a:r>
            <a:endParaRPr sz="1600">
              <a:solidFill>
                <a:srgbClr val="FF0000"/>
              </a:solidFill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950" y="1242600"/>
            <a:ext cx="1633650" cy="21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311700" y="3427700"/>
            <a:ext cx="27138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X trees in V1 vs Y trees in V2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Overall database growth — KPI table retained</a:t>
            </a:r>
            <a:r>
              <a:rPr lang="en" sz="2520"/>
              <a:t> </a:t>
            </a:r>
            <a:endParaRPr sz="2520"/>
          </a:p>
        </p:txBody>
      </p:sp>
      <p:sp>
        <p:nvSpPr>
          <p:cNvPr id="150" name="Google Shape;150;p25"/>
          <p:cNvSpPr txBox="1"/>
          <p:nvPr/>
        </p:nvSpPr>
        <p:spPr>
          <a:xfrm>
            <a:off x="457575" y="1382050"/>
            <a:ext cx="1074000" cy="859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+10% datasets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1725900" y="1382050"/>
            <a:ext cx="1074000" cy="859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+5% altitude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2994225" y="1382050"/>
            <a:ext cx="1074000" cy="859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24m mean tree DBH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3">
            <a:alphaModFix/>
          </a:blip>
          <a:srcRect b="4489" l="0" r="45667" t="0"/>
          <a:stretch/>
        </p:blipFill>
        <p:spPr>
          <a:xfrm>
            <a:off x="1058225" y="2393650"/>
            <a:ext cx="2509000" cy="2480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5530875" y="1179450"/>
            <a:ext cx="2047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Implemented as a compact table of values and percentage changes calculated directly from the current database objects.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Network graphs — not retained</a:t>
            </a:r>
            <a:endParaRPr sz="2520"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67474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5912500" y="1645200"/>
            <a:ext cx="3000000" cy="18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Nodes: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tree species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epiphyte types or genera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Edges: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Epiphyte per tree</a:t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6236625" y="223500"/>
            <a:ext cx="2047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highlight>
                  <a:schemeClr val="accent6"/>
                </a:highlight>
              </a:rPr>
              <a:t>Decision: not retained for the database-description results. Network analyses would address host–epiphyte associations and belong in a separate ecological analysis.</a:t>
            </a:r>
            <a:endParaRPr sz="16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PCA/NMDS — not retained</a:t>
            </a:r>
            <a:endParaRPr sz="2520"/>
          </a:p>
        </p:txBody>
      </p:sp>
      <p:sp>
        <p:nvSpPr>
          <p:cNvPr id="168" name="Google Shape;168;p27"/>
          <p:cNvSpPr txBox="1"/>
          <p:nvPr/>
        </p:nvSpPr>
        <p:spPr>
          <a:xfrm>
            <a:off x="6209725" y="1323775"/>
            <a:ext cx="2871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You convert categories into numeric structure via: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one-hot encoding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 distance matrices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PCA (Principal Component Analysis)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reduces dimensionality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finds main axes of variation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NMDS (Non-metric Multidimensional Scaling)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better for ecological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preserves rank distances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What you get: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2D plot where: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point = sample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distance = similarity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V1 = clustered, narrow diversity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V2 = expanded ecological space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2359500" y="445025"/>
            <a:ext cx="628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Note</a:t>
            </a:r>
            <a:r>
              <a:rPr lang="en">
                <a:solidFill>
                  <a:schemeClr val="dk2"/>
                </a:solidFill>
              </a:rPr>
              <a:t>: it uses a lot of RAM if run for the entire DB, so if using it, suggest to do subsets, which might defeat the purpose of V1 vs V2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75" y="1090775"/>
            <a:ext cx="3364921" cy="266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2803750" y="2241050"/>
            <a:ext cx="8913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Taxo scope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2936425" y="1179150"/>
            <a:ext cx="8913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V1 &amp; V2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899575" y="1282175"/>
            <a:ext cx="2047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highlight>
                  <a:schemeClr val="accent6"/>
                </a:highlight>
              </a:rPr>
              <a:t>Decision: not retained. Ordination addresses compositional structure rather than the descriptive expansion and coverage of the database.</a:t>
            </a:r>
            <a:endParaRPr sz="16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40"/>
              <a:t>Results generated by the updated QMD</a:t>
            </a:r>
            <a:endParaRPr sz="324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Gauge chart — superseded</a:t>
            </a:r>
            <a:endParaRPr sz="2520"/>
          </a:p>
        </p:txBody>
      </p:sp>
      <p:sp>
        <p:nvSpPr>
          <p:cNvPr id="184" name="Google Shape;184;p29"/>
          <p:cNvSpPr txBox="1"/>
          <p:nvPr/>
        </p:nvSpPr>
        <p:spPr>
          <a:xfrm>
            <a:off x="3548400" y="1170125"/>
            <a:ext cx="2047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Decision: removed. Country coverage is now presented as an exact comparison and a geographic-expansion map.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813851" cy="20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275" y="2919075"/>
            <a:ext cx="2813854" cy="20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Taxonomic scope</a:t>
            </a:r>
            <a:endParaRPr sz="2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 </a:t>
            </a:r>
            <a:endParaRPr sz="2520"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2025"/>
            <a:ext cx="4581624" cy="3373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449" y="1619575"/>
            <a:ext cx="4105177" cy="3022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Sampling methods</a:t>
            </a:r>
            <a:endParaRPr sz="2520"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342074" cy="319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6874" y="1170125"/>
            <a:ext cx="4344727" cy="3199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/>
        </p:nvSpPr>
        <p:spPr>
          <a:xfrm>
            <a:off x="3905375" y="4367475"/>
            <a:ext cx="46488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Updated approach: the dumbbell plot uses a pseudo-logarithmic scale, which retains zero values while displaying strongly unequal category frequencies.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Life-form coverage</a:t>
            </a:r>
            <a:endParaRPr sz="2520"/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476" y="2877975"/>
            <a:ext cx="2696473" cy="1985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212276" cy="236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965" y="1170125"/>
            <a:ext cx="3212286" cy="236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Sampling strategies</a:t>
            </a:r>
            <a:endParaRPr sz="2520"/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750" y="1339900"/>
            <a:ext cx="3944701" cy="29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321951" cy="318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/>
          <p:nvPr/>
        </p:nvSpPr>
        <p:spPr>
          <a:xfrm>
            <a:off x="311700" y="4505050"/>
            <a:ext cx="84573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highlight>
                  <a:srgbClr val="EA9999"/>
                </a:highlight>
              </a:rPr>
              <a:t>Updated approach: period- and comma-separated combinations are standardized before counting. Codes remain abbreviated until their definitions are verified against the data dictionary.</a:t>
            </a:r>
            <a:endParaRPr sz="1500">
              <a:solidFill>
                <a:schemeClr val="dk2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20"/>
              <a:t>Abundance information</a:t>
            </a:r>
            <a:endParaRPr sz="2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016199" cy="295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175" y="1170125"/>
            <a:ext cx="4164425" cy="306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Geographic expansion</a:t>
            </a:r>
            <a:endParaRPr sz="2520"/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34652" cy="3339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452" y="1170125"/>
            <a:ext cx="4152149" cy="3057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65100" y="92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Sampling distribution</a:t>
            </a:r>
            <a:endParaRPr sz="2520"/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7825"/>
            <a:ext cx="5667410" cy="41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Overall database growth</a:t>
            </a:r>
            <a:endParaRPr sz="2520"/>
          </a:p>
        </p:txBody>
      </p:sp>
      <p:sp>
        <p:nvSpPr>
          <p:cNvPr id="243" name="Google Shape;243;p37"/>
          <p:cNvSpPr txBox="1"/>
          <p:nvPr/>
        </p:nvSpPr>
        <p:spPr>
          <a:xfrm>
            <a:off x="4182575" y="610175"/>
            <a:ext cx="475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Updated approach: all values are derived from the database. Hard-coded vegetation-type counts are omitted; DBH is labelled in centimetres; and numeric ranges are reported separately from coverage counts.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44" name="Google Shape;2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25" y="1718650"/>
            <a:ext cx="4559755" cy="335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1730" y="1837700"/>
            <a:ext cx="4127046" cy="303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